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he problem" id="{ade7bc02-e217-cbf2-baf5-d2b3558ee0fe}">
          <p14:sldIdLst>
            <p14:sldId id="256"/>
            <p14:sldId id="257"/>
          </p14:sldIdLst>
        </p14:section>
        <p14:section name="The idea" id="{069b66b3-3ed3-8308-d84a-05b15437f5dc}">
          <p14:sldIdLst>
            <p14:sldId id="258"/>
            <p14:sldId id="259"/>
            <p14:sldId id="260"/>
            <p14:sldId id="261"/>
            <p14:sldId id="262"/>
          </p14:sldIdLst>
        </p14:section>
        <p14:section name="How it works" id="{59883a5a-ada4-d0ff-c4f7-94f6ca44f1e6}">
          <p14:sldIdLst>
            <p14:sldId id="263"/>
            <p14:sldId id="264"/>
            <p14:sldId id="265"/>
          </p14:sldIdLst>
        </p14:section>
        <p14:section name="Implementation" id="{bcfeda02-cb27-037f-bd37-6bf69fd9566d}">
          <p14:sldIdLst>
            <p14:sldId id="266"/>
            <p14:sldId id="267"/>
            <p14:sldId id="268"/>
          </p14:sldIdLst>
        </p14:section>
        <p14:section name="Why it wins" id="{7df59025-d306-5fa7-338c-ec1ed647414f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8B5CF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231A3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Communication</c:v>
                  </c:pt>
                  <c:pt idx="1">
                    <c:v>Technical knowledge</c:v>
                  </c:pt>
                  <c:pt idx="2">
                    <c:v>Problem-solving</c:v>
                  </c:pt>
                  <c:pt idx="3">
                    <c:v>Answer quality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6.5</c:v>
                </c:pt>
                <c:pt idx="1">
                  <c:v>7.8</c:v>
                </c:pt>
                <c:pt idx="2">
                  <c:v>7</c:v>
                </c:pt>
                <c:pt idx="3">
                  <c:v>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231A3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B54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problem in one line: most people never get a realistic mock interview with honest feedback. We built an AI interviewer that adapts to the role, the resume and each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gaps from the problem statement: access to practice, personalisation, and feedback. Our platform targets all three.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idea in one sentence. Users choose role, experience, interview type and difficulty — exactly the four inputs the problem statement asks for. One LLM sits behind all the AI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six steps. Point out which ones are AI-powered. The loop is the product: each session feeds the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card maps to an item in the problem statement: adaptive questions, resume-based personalisation, voice interviewing, automated evaluation, performance analysis, personalised learning.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first AI feature. The resume is parsed to text, then the LLM returns structured JSON: role fit, strengths, gaps, red flags and an interview plan. That plan seeds the first mock interview. The values on the right are an illustrative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 AI feature. The assistant is a chat panel available on every page. Each request includes the user's profile summary and the most relevant past answers, retrieved with embeddings, so it can explain their actual scores.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adaptive engine is a small state machine around the LLM. The LLM returns a score per dimension; the rules choose the next action and the LLM writes the next question. Thresholds are tunable.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four feedback areas named in the problem statement. Each answer gets a JSON result from the LLM: a score per dimension plus the quote that justifies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what the candidate sees. Scores here are an illustrative example. The fixes and the next-session plan are generated from the per-answer evaluations.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LLM is called through an OpenAI-compatible API, so the model can be swapped by changing one base URL. Speech-to-text can be Whisper or NVIDIA Riva; text-to-speech can start with the browser's built-in voices.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choice favours speed of building. The LLM sits behind one client wrapper, so swapping the model is a configuration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alone is a working demo. Phase 2 adds the features that make us different. Phase 3 is about a reliable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comparison is against the typical question-bank style of practice site, not any one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one-liner. Name the engine: NVIDIA Nemotron, called through NVIDIA's OpenAI-compatible NIM API, powers profile review, adaptive questions, evaluation and the assistant. Then the success measures,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COVER-image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image" Target="../media/TITLE_DARK-image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pFella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347472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5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PrepFella · AI mock interviews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pFella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347472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5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PrepFella · AI mock interviews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11091672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300" b="1" spc="200" kern="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097280"/>
            <a:ext cx="11091672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1527048" y="1847088"/>
            <a:ext cx="91440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ctr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pFella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347472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548640"/>
            <a:ext cx="11091672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spc="200" kern="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1737360"/>
            <a:ext cx="11091672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3657600"/>
            <a:ext cx="91440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CODEFEST · AI-POWERED WEB APPS × JOB READINESS</a:t>
            </a:r>
            <a:endParaRPr lang="en-US" sz="1300" dirty="0"/>
          </a:p>
        </p:txBody>
      </p:sp>
      <p:pic>
        <p:nvPicPr>
          <p:cNvPr id="3" name="PrepFella logo" descr="PrepFella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90901" y="2697480"/>
            <a:ext cx="6009894" cy="146304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48640" y="10972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Practice the interview before it counts</a:t>
            </a:r>
            <a:endParaRPr lang="en-US" sz="4000" dirty="0"/>
          </a:p>
        </p:txBody>
      </p:sp>
      <p:sp>
        <p:nvSpPr>
          <p:cNvPr id="5" name="Text 0"/>
          <p:cNvSpPr/>
          <p:nvPr>
            <p:ph idx="102" type="body" hasCustomPrompt="1"/>
          </p:nvPr>
        </p:nvSpPr>
        <p:spPr>
          <a:xfrm>
            <a:off x="1527048" y="1847088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An AI mock interviewer that adapts to your role, your resume and every answer you give.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029200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706728" y="534924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Jaron D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706728" y="56875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01FE24BCA294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632808" y="534924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Rounak M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4632808" y="56875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01FE24BCA298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558888" y="534924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Manjunath M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7558888" y="56875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01FE24BCA079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Why candidates walk into interviews underprepared</a:t>
            </a:r>
            <a:endParaRPr lang="en-US" sz="3200" dirty="0"/>
          </a:p>
        </p:txBody>
      </p:sp>
      <p:sp>
        <p:nvSpPr>
          <p:cNvPr id="4" name="Problem card 1"/>
          <p:cNvSpPr/>
          <p:nvPr/>
        </p:nvSpPr>
        <p:spPr>
          <a:xfrm>
            <a:off x="548640" y="1783080"/>
            <a:ext cx="3483864" cy="3246120"/>
          </a:xfrm>
          <a:prstGeom prst="roundRect">
            <a:avLst>
              <a:gd name="adj" fmla="val 338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1C1433">
                <a:alpha val="8000"/>
              </a:srgbClr>
            </a:outerShdw>
          </a:effectLst>
        </p:spPr>
      </p:sp>
      <p:sp>
        <p:nvSpPr>
          <p:cNvPr id="5" name="No one to practise with circle"/>
          <p:cNvSpPr/>
          <p:nvPr/>
        </p:nvSpPr>
        <p:spPr>
          <a:xfrm>
            <a:off x="868680" y="21031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No one to practise with" descr="No one to practise wi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1" y="2269541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2971800"/>
            <a:ext cx="2843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No one to practise with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474720"/>
            <a:ext cx="28437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accent5"/>
                </a:solidFill>
              </a:rPr>
              <a:t>Real mock interviews need an expert interviewer’s time, so most candidates rehearse alone — or not at all.</a:t>
            </a:r>
            <a:endParaRPr lang="en-US" sz="1500" dirty="0"/>
          </a:p>
        </p:txBody>
      </p:sp>
      <p:sp>
        <p:nvSpPr>
          <p:cNvPr id="9" name="Problem card 2"/>
          <p:cNvSpPr/>
          <p:nvPr/>
        </p:nvSpPr>
        <p:spPr>
          <a:xfrm>
            <a:off x="4352544" y="1783080"/>
            <a:ext cx="3483864" cy="3246120"/>
          </a:xfrm>
          <a:prstGeom prst="roundRect">
            <a:avLst>
              <a:gd name="adj" fmla="val 338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1C1433">
                <a:alpha val="8000"/>
              </a:srgbClr>
            </a:outerShdw>
          </a:effectLst>
        </p:spPr>
      </p:sp>
      <p:sp>
        <p:nvSpPr>
          <p:cNvPr id="10" name="Generic question banks circle"/>
          <p:cNvSpPr/>
          <p:nvPr/>
        </p:nvSpPr>
        <p:spPr>
          <a:xfrm>
            <a:off x="4672584" y="21031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Generic question banks" descr="Generic question bank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9005" y="226954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72584" y="2971800"/>
            <a:ext cx="2843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Generic question banks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672584" y="3474720"/>
            <a:ext cx="28437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accent5"/>
                </a:solidFill>
              </a:rPr>
              <a:t>Practice sites serve the same static questions regardless of role, experience, or how you just answered.</a:t>
            </a:r>
            <a:endParaRPr lang="en-US" sz="1500" dirty="0"/>
          </a:p>
        </p:txBody>
      </p:sp>
      <p:sp>
        <p:nvSpPr>
          <p:cNvPr id="14" name="Problem card 3"/>
          <p:cNvSpPr/>
          <p:nvPr/>
        </p:nvSpPr>
        <p:spPr>
          <a:xfrm>
            <a:off x="8156448" y="1783080"/>
            <a:ext cx="3483864" cy="3246120"/>
          </a:xfrm>
          <a:prstGeom prst="roundRect">
            <a:avLst>
              <a:gd name="adj" fmla="val 338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1C1433">
                <a:alpha val="8000"/>
              </a:srgbClr>
            </a:outerShdw>
          </a:effectLst>
        </p:spPr>
      </p:sp>
      <p:sp>
        <p:nvSpPr>
          <p:cNvPr id="15" name="No honest feedback circle"/>
          <p:cNvSpPr/>
          <p:nvPr/>
        </p:nvSpPr>
        <p:spPr>
          <a:xfrm>
            <a:off x="8476488" y="21031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No honest feedback" descr="No honest feedba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2909" y="226954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76488" y="2971800"/>
            <a:ext cx="2843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No honest feedback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8476488" y="3474720"/>
            <a:ext cx="28437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accent5"/>
                </a:solidFill>
              </a:rPr>
              <a:t>Candidates rarely learn which answers were weak, why, or what to change before the real interview.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5349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The cost: 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capable people underperform on the day — and never find out why.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IDEA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An AI interviewer that adapts like a real panel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Candidates set up the interview they’re actually facing. The AI runs it, scores it and coaches them on what to fix.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317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· SET UP</a:t>
            </a:r>
            <a:endParaRPr lang="en-US" sz="1100" dirty="0"/>
          </a:p>
        </p:txBody>
      </p:sp>
      <p:sp>
        <p:nvSpPr>
          <p:cNvPr id="6" name="Setup tile Role"/>
          <p:cNvSpPr/>
          <p:nvPr/>
        </p:nvSpPr>
        <p:spPr>
          <a:xfrm>
            <a:off x="548640" y="2651760"/>
            <a:ext cx="2567635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1C1433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28529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154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Backend Engineer</a:t>
            </a:r>
            <a:endParaRPr lang="en-US" sz="1800" dirty="0"/>
          </a:p>
        </p:txBody>
      </p:sp>
      <p:sp>
        <p:nvSpPr>
          <p:cNvPr id="9" name="Setup tile Experience"/>
          <p:cNvSpPr/>
          <p:nvPr/>
        </p:nvSpPr>
        <p:spPr>
          <a:xfrm>
            <a:off x="3390595" y="2651760"/>
            <a:ext cx="2567635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1C1433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619195" y="28529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EXPERIENCE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619195" y="3154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Fresher · 0–1 yr</a:t>
            </a:r>
            <a:endParaRPr lang="en-US" sz="1800" dirty="0"/>
          </a:p>
        </p:txBody>
      </p:sp>
      <p:sp>
        <p:nvSpPr>
          <p:cNvPr id="12" name="Setup tile Interview type"/>
          <p:cNvSpPr/>
          <p:nvPr/>
        </p:nvSpPr>
        <p:spPr>
          <a:xfrm>
            <a:off x="6232550" y="2651760"/>
            <a:ext cx="2567635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1C1433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61150" y="28529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INTERVIEW TYPE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461150" y="3154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Technical + HR</a:t>
            </a:r>
            <a:endParaRPr lang="en-US" sz="1800" dirty="0"/>
          </a:p>
        </p:txBody>
      </p:sp>
      <p:sp>
        <p:nvSpPr>
          <p:cNvPr id="15" name="Setup tile Difficulty"/>
          <p:cNvSpPr/>
          <p:nvPr/>
        </p:nvSpPr>
        <p:spPr>
          <a:xfrm>
            <a:off x="9074506" y="2651760"/>
            <a:ext cx="2567635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1C1433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303106" y="28529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DIFFICULTY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9303106" y="3154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Medium, then adaptive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1148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· THEN THE AI</a:t>
            </a:r>
            <a:endParaRPr lang="en-US" sz="1100" dirty="0"/>
          </a:p>
        </p:txBody>
      </p:sp>
      <p:sp>
        <p:nvSpPr>
          <p:cNvPr id="19" name="Asks relevant questions circle"/>
          <p:cNvSpPr/>
          <p:nvPr/>
        </p:nvSpPr>
        <p:spPr>
          <a:xfrm>
            <a:off x="548640" y="44348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Asks relevant questions" descr="Asks relevant ques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399" y="4565599"/>
            <a:ext cx="241402" cy="241402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234440" y="443484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Asks relevant questions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1234440" y="480060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Generated for that role, level and resume — not pulled from a fixed bank.</a:t>
            </a:r>
            <a:endParaRPr lang="en-US" sz="1400" dirty="0"/>
          </a:p>
        </p:txBody>
      </p:sp>
      <p:sp>
        <p:nvSpPr>
          <p:cNvPr id="23" name="Evaluates every answer circle"/>
          <p:cNvSpPr/>
          <p:nvPr/>
        </p:nvSpPr>
        <p:spPr>
          <a:xfrm>
            <a:off x="4352544" y="44348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4" name="Evaluates every answer" descr="Evaluates every answ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3303" y="4565599"/>
            <a:ext cx="241402" cy="241402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5038344" y="443484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Evaluates every answer</a:t>
            </a:r>
            <a:endParaRPr lang="en-US" sz="1700" dirty="0"/>
          </a:p>
        </p:txBody>
      </p:sp>
      <p:sp>
        <p:nvSpPr>
          <p:cNvPr id="26" name="Text 22"/>
          <p:cNvSpPr txBox="1"/>
          <p:nvPr/>
        </p:nvSpPr>
        <p:spPr>
          <a:xfrm>
            <a:off x="5038344" y="480060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Communication, technical knowledge, problem-solving, answer quality.</a:t>
            </a:r>
            <a:endParaRPr lang="en-US" sz="1400" dirty="0"/>
          </a:p>
        </p:txBody>
      </p:sp>
      <p:sp>
        <p:nvSpPr>
          <p:cNvPr id="27" name="Coaches the next attempt circle"/>
          <p:cNvSpPr/>
          <p:nvPr/>
        </p:nvSpPr>
        <p:spPr>
          <a:xfrm>
            <a:off x="8156448" y="44348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8" name="Coaches the next attempt" descr="Coaches the next attemp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7207" y="4565599"/>
            <a:ext cx="241402" cy="241402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8842248" y="443484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Coaches the next attempt</a:t>
            </a:r>
            <a:endParaRPr lang="en-US" sz="1700" dirty="0"/>
          </a:p>
        </p:txBody>
      </p:sp>
      <p:sp>
        <p:nvSpPr>
          <p:cNvPr id="30" name="Text 25"/>
          <p:cNvSpPr txBox="1"/>
          <p:nvPr/>
        </p:nvSpPr>
        <p:spPr>
          <a:xfrm>
            <a:off x="8842248" y="480060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Personalised feedback, model answers and a study plan.</a:t>
            </a:r>
            <a:endParaRPr lang="en-US" sz="1400" dirty="0"/>
          </a:p>
        </p:txBody>
      </p:sp>
      <p:sp>
        <p:nvSpPr>
          <p:cNvPr id="31" name="Text 26"/>
          <p:cNvSpPr txBox="1"/>
          <p:nvPr/>
        </p:nvSpPr>
        <p:spPr>
          <a:xfrm>
            <a:off x="548640" y="58064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AI LAYER  </a:t>
            </a:r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profile review · question generation · answer evaluation · in-app assistant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JOURNEY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From sign-up to a sharper second attempt</a:t>
            </a:r>
            <a:endParaRPr lang="en-US" sz="3200" dirty="0"/>
          </a:p>
        </p:txBody>
      </p:sp>
      <p:sp>
        <p:nvSpPr>
          <p:cNvPr id="4" name="Step 1"/>
          <p:cNvSpPr/>
          <p:nvPr/>
        </p:nvSpPr>
        <p:spPr>
          <a:xfrm>
            <a:off x="548640" y="1783080"/>
            <a:ext cx="1664208" cy="3429000"/>
          </a:xfrm>
          <a:prstGeom prst="roundRect">
            <a:avLst>
              <a:gd name="adj" fmla="val 659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1C1433">
                <a:alpha val="8000"/>
              </a:srgbClr>
            </a:outerShdw>
          </a:effectLst>
        </p:spPr>
      </p:sp>
      <p:sp>
        <p:nvSpPr>
          <p:cNvPr id="5" name="Step number 1"/>
          <p:cNvSpPr/>
          <p:nvPr/>
        </p:nvSpPr>
        <p:spPr>
          <a:xfrm>
            <a:off x="731520" y="20116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5176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Build profile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246120"/>
            <a:ext cx="1325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Upload a resume and project links; AI Profile Review maps strengths and gaps.</a:t>
            </a:r>
            <a:endParaRPr lang="en-US" sz="1400" dirty="0"/>
          </a:p>
        </p:txBody>
      </p:sp>
      <p:sp>
        <p:nvSpPr>
          <p:cNvPr id="9" name="AI tag 1"/>
          <p:cNvSpPr/>
          <p:nvPr/>
        </p:nvSpPr>
        <p:spPr>
          <a:xfrm>
            <a:off x="731520" y="4709160"/>
            <a:ext cx="96012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470916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AI-POWERED</a:t>
            </a:r>
            <a:endParaRPr lang="en-US" sz="1000" dirty="0"/>
          </a:p>
        </p:txBody>
      </p:sp>
      <p:sp>
        <p:nvSpPr>
          <p:cNvPr id="11" name="Arrow 1"/>
          <p:cNvSpPr/>
          <p:nvPr/>
        </p:nvSpPr>
        <p:spPr>
          <a:xfrm>
            <a:off x="2259757" y="3383280"/>
            <a:ext cx="128016" cy="237744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Step 2"/>
          <p:cNvSpPr/>
          <p:nvPr/>
        </p:nvSpPr>
        <p:spPr>
          <a:xfrm>
            <a:off x="2434681" y="1783080"/>
            <a:ext cx="1664208" cy="3429000"/>
          </a:xfrm>
          <a:prstGeom prst="roundRect">
            <a:avLst>
              <a:gd name="adj" fmla="val 659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1C1433">
                <a:alpha val="8000"/>
              </a:srgbClr>
            </a:outerShdw>
          </a:effectLst>
        </p:spPr>
      </p:sp>
      <p:sp>
        <p:nvSpPr>
          <p:cNvPr id="13" name="Step number 2"/>
          <p:cNvSpPr/>
          <p:nvPr/>
        </p:nvSpPr>
        <p:spPr>
          <a:xfrm>
            <a:off x="2617561" y="20116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617561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2617561" y="265176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Set the interview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2617561" y="3246120"/>
            <a:ext cx="1325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Choose role, experience level, interview type and difficulty.</a:t>
            </a:r>
            <a:endParaRPr lang="en-US" sz="1400" dirty="0"/>
          </a:p>
        </p:txBody>
      </p:sp>
      <p:sp>
        <p:nvSpPr>
          <p:cNvPr id="17" name="Arrow 2"/>
          <p:cNvSpPr/>
          <p:nvPr/>
        </p:nvSpPr>
        <p:spPr>
          <a:xfrm>
            <a:off x="4145798" y="3383280"/>
            <a:ext cx="128016" cy="237744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Step 3"/>
          <p:cNvSpPr/>
          <p:nvPr/>
        </p:nvSpPr>
        <p:spPr>
          <a:xfrm>
            <a:off x="4320723" y="1783080"/>
            <a:ext cx="1664208" cy="3429000"/>
          </a:xfrm>
          <a:prstGeom prst="roundRect">
            <a:avLst>
              <a:gd name="adj" fmla="val 659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1C1433">
                <a:alpha val="8000"/>
              </a:srgbClr>
            </a:outerShdw>
          </a:effectLst>
        </p:spPr>
      </p:sp>
      <p:sp>
        <p:nvSpPr>
          <p:cNvPr id="19" name="Step number 3"/>
          <p:cNvSpPr/>
          <p:nvPr/>
        </p:nvSpPr>
        <p:spPr>
          <a:xfrm>
            <a:off x="4503603" y="20116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03603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503603" y="265176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Interview live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503603" y="3246120"/>
            <a:ext cx="1325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Voice or text. The AI asks, listens and follows up on weak spots.</a:t>
            </a:r>
            <a:endParaRPr lang="en-US" sz="1400" dirty="0"/>
          </a:p>
        </p:txBody>
      </p:sp>
      <p:sp>
        <p:nvSpPr>
          <p:cNvPr id="23" name="AI tag 3"/>
          <p:cNvSpPr/>
          <p:nvPr/>
        </p:nvSpPr>
        <p:spPr>
          <a:xfrm>
            <a:off x="4503603" y="4709160"/>
            <a:ext cx="96012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03603" y="470916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AI-POWERED</a:t>
            </a:r>
            <a:endParaRPr lang="en-US" sz="1000" dirty="0"/>
          </a:p>
        </p:txBody>
      </p:sp>
      <p:sp>
        <p:nvSpPr>
          <p:cNvPr id="25" name="Arrow 3"/>
          <p:cNvSpPr/>
          <p:nvPr/>
        </p:nvSpPr>
        <p:spPr>
          <a:xfrm>
            <a:off x="6031840" y="3383280"/>
            <a:ext cx="128016" cy="237744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Step 4"/>
          <p:cNvSpPr/>
          <p:nvPr/>
        </p:nvSpPr>
        <p:spPr>
          <a:xfrm>
            <a:off x="6206764" y="1783080"/>
            <a:ext cx="1664208" cy="3429000"/>
          </a:xfrm>
          <a:prstGeom prst="roundRect">
            <a:avLst>
              <a:gd name="adj" fmla="val 659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1C1433">
                <a:alpha val="8000"/>
              </a:srgbClr>
            </a:outerShdw>
          </a:effectLst>
        </p:spPr>
      </p:sp>
      <p:sp>
        <p:nvSpPr>
          <p:cNvPr id="27" name="Step number 4"/>
          <p:cNvSpPr/>
          <p:nvPr/>
        </p:nvSpPr>
        <p:spPr>
          <a:xfrm>
            <a:off x="6389644" y="20116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89644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6389644" y="265176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Get scored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6389644" y="3246120"/>
            <a:ext cx="1325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Every answer is rated on four skill dimensions, with evidence.</a:t>
            </a:r>
            <a:endParaRPr lang="en-US" sz="1400" dirty="0"/>
          </a:p>
        </p:txBody>
      </p:sp>
      <p:sp>
        <p:nvSpPr>
          <p:cNvPr id="31" name="AI tag 4"/>
          <p:cNvSpPr/>
          <p:nvPr/>
        </p:nvSpPr>
        <p:spPr>
          <a:xfrm>
            <a:off x="6389644" y="4709160"/>
            <a:ext cx="96012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389644" y="470916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AI-POWERED</a:t>
            </a:r>
            <a:endParaRPr lang="en-US" sz="1000" dirty="0"/>
          </a:p>
        </p:txBody>
      </p:sp>
      <p:sp>
        <p:nvSpPr>
          <p:cNvPr id="33" name="Arrow 4"/>
          <p:cNvSpPr/>
          <p:nvPr/>
        </p:nvSpPr>
        <p:spPr>
          <a:xfrm>
            <a:off x="7917881" y="3383280"/>
            <a:ext cx="128016" cy="237744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Step 5"/>
          <p:cNvSpPr/>
          <p:nvPr/>
        </p:nvSpPr>
        <p:spPr>
          <a:xfrm>
            <a:off x="8092806" y="1783080"/>
            <a:ext cx="1664208" cy="3429000"/>
          </a:xfrm>
          <a:prstGeom prst="roundRect">
            <a:avLst>
              <a:gd name="adj" fmla="val 659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1C1433">
                <a:alpha val="8000"/>
              </a:srgbClr>
            </a:outerShdw>
          </a:effectLst>
        </p:spPr>
      </p:sp>
      <p:sp>
        <p:nvSpPr>
          <p:cNvPr id="35" name="Step number 5"/>
          <p:cNvSpPr/>
          <p:nvPr/>
        </p:nvSpPr>
        <p:spPr>
          <a:xfrm>
            <a:off x="8275686" y="20116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275686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8275686" y="265176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Learn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8275686" y="3246120"/>
            <a:ext cx="1325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 report with model answers, a focus list and an AI coach to ask.</a:t>
            </a:r>
            <a:endParaRPr lang="en-US" sz="1400" dirty="0"/>
          </a:p>
        </p:txBody>
      </p:sp>
      <p:sp>
        <p:nvSpPr>
          <p:cNvPr id="39" name="AI tag 5"/>
          <p:cNvSpPr/>
          <p:nvPr/>
        </p:nvSpPr>
        <p:spPr>
          <a:xfrm>
            <a:off x="8275686" y="4709160"/>
            <a:ext cx="96012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275686" y="470916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AI-POWERED</a:t>
            </a:r>
            <a:endParaRPr lang="en-US" sz="1000" dirty="0"/>
          </a:p>
        </p:txBody>
      </p:sp>
      <p:sp>
        <p:nvSpPr>
          <p:cNvPr id="41" name="Arrow 5"/>
          <p:cNvSpPr/>
          <p:nvPr/>
        </p:nvSpPr>
        <p:spPr>
          <a:xfrm>
            <a:off x="9803922" y="3383280"/>
            <a:ext cx="128016" cy="237744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2" name="Step 6"/>
          <p:cNvSpPr/>
          <p:nvPr/>
        </p:nvSpPr>
        <p:spPr>
          <a:xfrm>
            <a:off x="9978847" y="1783080"/>
            <a:ext cx="1664208" cy="3429000"/>
          </a:xfrm>
          <a:prstGeom prst="roundRect">
            <a:avLst>
              <a:gd name="adj" fmla="val 659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1C1433">
                <a:alpha val="8000"/>
              </a:srgbClr>
            </a:outerShdw>
          </a:effectLst>
        </p:spPr>
      </p:sp>
      <p:sp>
        <p:nvSpPr>
          <p:cNvPr id="43" name="Step number 6"/>
          <p:cNvSpPr/>
          <p:nvPr/>
        </p:nvSpPr>
        <p:spPr>
          <a:xfrm>
            <a:off x="10161727" y="20116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0161727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10161727" y="265176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Go again</a:t>
            </a:r>
            <a:endParaRPr lang="en-US" sz="1600" dirty="0"/>
          </a:p>
        </p:txBody>
      </p:sp>
      <p:sp>
        <p:nvSpPr>
          <p:cNvPr id="46" name="Text 44"/>
          <p:cNvSpPr txBox="1"/>
          <p:nvPr/>
        </p:nvSpPr>
        <p:spPr>
          <a:xfrm>
            <a:off x="10161727" y="3246120"/>
            <a:ext cx="1325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The next session targets your weakest areas. Progress is tracked.</a:t>
            </a:r>
            <a:endParaRPr lang="en-US" sz="1400" dirty="0"/>
          </a:p>
        </p:txBody>
      </p:sp>
      <p:sp>
        <p:nvSpPr>
          <p:cNvPr id="47" name="Loop circle"/>
          <p:cNvSpPr/>
          <p:nvPr/>
        </p:nvSpPr>
        <p:spPr>
          <a:xfrm>
            <a:off x="548640" y="5440680"/>
            <a:ext cx="411480" cy="4114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8" name="Loop" descr="Loo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625" y="5547665"/>
            <a:ext cx="197510" cy="197510"/>
          </a:xfrm>
          <a:prstGeom prst="rect">
            <a:avLst/>
          </a:prstGeom>
        </p:spPr>
      </p:pic>
      <p:sp>
        <p:nvSpPr>
          <p:cNvPr id="49" name="Text 46"/>
          <p:cNvSpPr txBox="1"/>
          <p:nvPr/>
        </p:nvSpPr>
        <p:spPr>
          <a:xfrm>
            <a:off x="1097280" y="54406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Steps 3–6 repeat — every session shapes the next one’s questions.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 FEATURES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Six capabilities in one practice loop</a:t>
            </a:r>
            <a:endParaRPr lang="en-US" sz="3200" dirty="0"/>
          </a:p>
        </p:txBody>
      </p:sp>
      <p:sp>
        <p:nvSpPr>
          <p:cNvPr id="4" name="Feature Resume-aware questions"/>
          <p:cNvSpPr/>
          <p:nvPr/>
        </p:nvSpPr>
        <p:spPr>
          <a:xfrm>
            <a:off x="548640" y="1783080"/>
            <a:ext cx="3483864" cy="1965960"/>
          </a:xfrm>
          <a:prstGeom prst="roundRect">
            <a:avLst>
              <a:gd name="adj" fmla="val 5581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1C1433">
                <a:alpha val="8000"/>
              </a:srgbClr>
            </a:outerShdw>
          </a:effectLst>
        </p:spPr>
      </p:sp>
      <p:sp>
        <p:nvSpPr>
          <p:cNvPr id="5" name="Resume-aware questions circle"/>
          <p:cNvSpPr/>
          <p:nvPr/>
        </p:nvSpPr>
        <p:spPr>
          <a:xfrm>
            <a:off x="822960" y="20574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Resume-aware questions" descr="Resume-aware ques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220004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20574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Resume-aware questions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7889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Questions come from the candidate’s own projects, skills and claims — then get probed.</a:t>
            </a:r>
            <a:endParaRPr lang="en-US" sz="1400" dirty="0"/>
          </a:p>
        </p:txBody>
      </p:sp>
      <p:sp>
        <p:nvSpPr>
          <p:cNvPr id="9" name="Feature Adaptive difficulty"/>
          <p:cNvSpPr/>
          <p:nvPr/>
        </p:nvSpPr>
        <p:spPr>
          <a:xfrm>
            <a:off x="4352544" y="1783080"/>
            <a:ext cx="3483864" cy="1965960"/>
          </a:xfrm>
          <a:prstGeom prst="roundRect">
            <a:avLst>
              <a:gd name="adj" fmla="val 5581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1C1433">
                <a:alpha val="8000"/>
              </a:srgbClr>
            </a:outerShdw>
          </a:effectLst>
        </p:spPr>
      </p:sp>
      <p:sp>
        <p:nvSpPr>
          <p:cNvPr id="10" name="Adaptive difficulty circle"/>
          <p:cNvSpPr/>
          <p:nvPr/>
        </p:nvSpPr>
        <p:spPr>
          <a:xfrm>
            <a:off x="4626864" y="20574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Adaptive difficulty" descr="Adaptive difficult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9510" y="220004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12664" y="20574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Adaptive difficulty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626864" y="27889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Each answer’s score decides the next move: go deeper, follow up, or ease off.</a:t>
            </a:r>
            <a:endParaRPr lang="en-US" sz="1400" dirty="0"/>
          </a:p>
        </p:txBody>
      </p:sp>
      <p:sp>
        <p:nvSpPr>
          <p:cNvPr id="14" name="Feature Voice interviews"/>
          <p:cNvSpPr/>
          <p:nvPr/>
        </p:nvSpPr>
        <p:spPr>
          <a:xfrm>
            <a:off x="8156448" y="1783080"/>
            <a:ext cx="3483864" cy="1965960"/>
          </a:xfrm>
          <a:prstGeom prst="roundRect">
            <a:avLst>
              <a:gd name="adj" fmla="val 5581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1C1433">
                <a:alpha val="8000"/>
              </a:srgbClr>
            </a:outerShdw>
          </a:effectLst>
        </p:spPr>
      </p:sp>
      <p:sp>
        <p:nvSpPr>
          <p:cNvPr id="15" name="Voice interviews circle"/>
          <p:cNvSpPr/>
          <p:nvPr/>
        </p:nvSpPr>
        <p:spPr>
          <a:xfrm>
            <a:off x="8430768" y="20574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Voice interviews" descr="Voice interview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3414" y="220004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116568" y="20574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Voice interviews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430768" y="27889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Speak naturally; speech-to-text transcribes and the interviewer replies aloud.</a:t>
            </a:r>
            <a:endParaRPr lang="en-US" sz="1400" dirty="0"/>
          </a:p>
        </p:txBody>
      </p:sp>
      <p:sp>
        <p:nvSpPr>
          <p:cNvPr id="19" name="Feature Automated evaluation"/>
          <p:cNvSpPr/>
          <p:nvPr/>
        </p:nvSpPr>
        <p:spPr>
          <a:xfrm>
            <a:off x="548640" y="4023360"/>
            <a:ext cx="3483864" cy="1965960"/>
          </a:xfrm>
          <a:prstGeom prst="roundRect">
            <a:avLst>
              <a:gd name="adj" fmla="val 5581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1C1433">
                <a:alpha val="8000"/>
              </a:srgbClr>
            </a:outerShdw>
          </a:effectLst>
        </p:spPr>
      </p:sp>
      <p:sp>
        <p:nvSpPr>
          <p:cNvPr id="20" name="Automated evaluation circle"/>
          <p:cNvSpPr/>
          <p:nvPr/>
        </p:nvSpPr>
        <p:spPr>
          <a:xfrm>
            <a:off x="822960" y="42976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Automated evaluation" descr="Automated evaluati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06" y="4440326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08760" y="42976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Automated evaluation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822960" y="50292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Rubric-based scoring for every answer, with quoted evidence behind each score.</a:t>
            </a:r>
            <a:endParaRPr lang="en-US" sz="1400" dirty="0"/>
          </a:p>
        </p:txBody>
      </p:sp>
      <p:sp>
        <p:nvSpPr>
          <p:cNvPr id="24" name="Feature Performance analytics"/>
          <p:cNvSpPr/>
          <p:nvPr/>
        </p:nvSpPr>
        <p:spPr>
          <a:xfrm>
            <a:off x="4352544" y="4023360"/>
            <a:ext cx="3483864" cy="1965960"/>
          </a:xfrm>
          <a:prstGeom prst="roundRect">
            <a:avLst>
              <a:gd name="adj" fmla="val 5581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1C1433">
                <a:alpha val="8000"/>
              </a:srgbClr>
            </a:outerShdw>
          </a:effectLst>
        </p:spPr>
      </p:sp>
      <p:sp>
        <p:nvSpPr>
          <p:cNvPr id="25" name="Performance analytics circle"/>
          <p:cNvSpPr/>
          <p:nvPr/>
        </p:nvSpPr>
        <p:spPr>
          <a:xfrm>
            <a:off x="4626864" y="42976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Performance analytics" descr="Performance analytic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9510" y="4440326"/>
            <a:ext cx="263347" cy="263347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312664" y="42976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Performance analytics</a:t>
            </a:r>
            <a:endParaRPr lang="en-US" sz="1800" dirty="0"/>
          </a:p>
        </p:txBody>
      </p:sp>
      <p:sp>
        <p:nvSpPr>
          <p:cNvPr id="28" name="Text 21"/>
          <p:cNvSpPr txBox="1"/>
          <p:nvPr/>
        </p:nvSpPr>
        <p:spPr>
          <a:xfrm>
            <a:off x="4626864" y="50292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Scores by dimension and topic, tracked across sessions to show real progress.</a:t>
            </a:r>
            <a:endParaRPr lang="en-US" sz="1400" dirty="0"/>
          </a:p>
        </p:txBody>
      </p:sp>
      <p:sp>
        <p:nvSpPr>
          <p:cNvPr id="29" name="Feature Personalised learning"/>
          <p:cNvSpPr/>
          <p:nvPr/>
        </p:nvSpPr>
        <p:spPr>
          <a:xfrm>
            <a:off x="8156448" y="4023360"/>
            <a:ext cx="3483864" cy="1965960"/>
          </a:xfrm>
          <a:prstGeom prst="roundRect">
            <a:avLst>
              <a:gd name="adj" fmla="val 5581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1C1433">
                <a:alpha val="8000"/>
              </a:srgbClr>
            </a:outerShdw>
          </a:effectLst>
        </p:spPr>
      </p:sp>
      <p:sp>
        <p:nvSpPr>
          <p:cNvPr id="30" name="Personalised learning circle"/>
          <p:cNvSpPr/>
          <p:nvPr/>
        </p:nvSpPr>
        <p:spPr>
          <a:xfrm>
            <a:off x="8430768" y="42976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1" name="Personalised learning" descr="Personalised learni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3414" y="4440326"/>
            <a:ext cx="263347" cy="263347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116568" y="42976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Personalised learning</a:t>
            </a:r>
            <a:endParaRPr lang="en-US" sz="1800" dirty="0"/>
          </a:p>
        </p:txBody>
      </p:sp>
      <p:sp>
        <p:nvSpPr>
          <p:cNvPr id="33" name="Text 25"/>
          <p:cNvSpPr txBox="1"/>
          <p:nvPr/>
        </p:nvSpPr>
        <p:spPr>
          <a:xfrm>
            <a:off x="8430768" y="50292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Weak areas become a study plan with model answers and targeted drills.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FEATURE · PROFILE REVIEW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AI Profile Review: know where you stand first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Before the first question, the AI reads the candidate’s resume, projects and target role — and tells them honestly where they stand.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8346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27248"/>
            <a:ext cx="5212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accent5"/>
                </a:solidFill>
              </a:rPr>
              <a:t>Resume (PDF or DOCX)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accent5"/>
                </a:solidFill>
              </a:rPr>
              <a:t>GitHub or portfolio links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accent5"/>
                </a:solidFill>
              </a:rPr>
              <a:t>Target role and, optionally, a job description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2976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590288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accent5"/>
                </a:solidFill>
              </a:rPr>
              <a:t>Role-fit summary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accent5"/>
                </a:solidFill>
              </a:rPr>
              <a:t>Strengths and skill gaps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accent5"/>
                </a:solidFill>
              </a:rPr>
              <a:t>Resume red flags, with rewrite tips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accent5"/>
                </a:solidFill>
              </a:rPr>
              <a:t>A personalised interview plan</a:t>
            </a:r>
            <a:endParaRPr lang="en-US" sz="1500" dirty="0"/>
          </a:p>
        </p:txBody>
      </p:sp>
      <p:sp>
        <p:nvSpPr>
          <p:cNvPr id="9" name="Sample profile review"/>
          <p:cNvSpPr/>
          <p:nvPr/>
        </p:nvSpPr>
        <p:spPr>
          <a:xfrm>
            <a:off x="6126480" y="1783080"/>
            <a:ext cx="5516575" cy="4434840"/>
          </a:xfrm>
          <a:prstGeom prst="roundRect">
            <a:avLst>
              <a:gd name="adj" fmla="val 247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40" y="21031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 OUTPUT · ILLUSTRATIVE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4231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Profile review — Data Analyst, fresher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3063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STRENGTHS</a:t>
            </a:r>
            <a:endParaRPr lang="en-US" sz="1100" dirty="0"/>
          </a:p>
        </p:txBody>
      </p:sp>
      <p:sp>
        <p:nvSpPr>
          <p:cNvPr id="13" name="Chip SQL"/>
          <p:cNvSpPr/>
          <p:nvPr/>
        </p:nvSpPr>
        <p:spPr>
          <a:xfrm>
            <a:off x="6492240" y="3355848"/>
            <a:ext cx="548640" cy="34747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92240" y="335584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SQL</a:t>
            </a:r>
            <a:endParaRPr lang="en-US" sz="1300" dirty="0"/>
          </a:p>
        </p:txBody>
      </p:sp>
      <p:sp>
        <p:nvSpPr>
          <p:cNvPr id="15" name="Chip Python"/>
          <p:cNvSpPr/>
          <p:nvPr/>
        </p:nvSpPr>
        <p:spPr>
          <a:xfrm>
            <a:off x="7150608" y="3355848"/>
            <a:ext cx="822960" cy="34747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50608" y="33558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Python</a:t>
            </a:r>
            <a:endParaRPr lang="en-US" sz="1300" dirty="0"/>
          </a:p>
        </p:txBody>
      </p:sp>
      <p:sp>
        <p:nvSpPr>
          <p:cNvPr id="17" name="Chip Power BI"/>
          <p:cNvSpPr/>
          <p:nvPr/>
        </p:nvSpPr>
        <p:spPr>
          <a:xfrm>
            <a:off x="8083296" y="3355848"/>
            <a:ext cx="1005840" cy="34747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83296" y="335584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Power BI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38862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GAPS TO WORK ON</a:t>
            </a:r>
            <a:endParaRPr lang="en-US" sz="1100" dirty="0"/>
          </a:p>
        </p:txBody>
      </p:sp>
      <p:sp>
        <p:nvSpPr>
          <p:cNvPr id="20" name="Chip Statistics"/>
          <p:cNvSpPr/>
          <p:nvPr/>
        </p:nvSpPr>
        <p:spPr>
          <a:xfrm>
            <a:off x="6492240" y="4178808"/>
            <a:ext cx="1188720" cy="34747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92240" y="417880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Statistics</a:t>
            </a:r>
            <a:endParaRPr lang="en-US" sz="1300" dirty="0"/>
          </a:p>
        </p:txBody>
      </p:sp>
      <p:sp>
        <p:nvSpPr>
          <p:cNvPr id="22" name="Chip Data storytelling"/>
          <p:cNvSpPr/>
          <p:nvPr/>
        </p:nvSpPr>
        <p:spPr>
          <a:xfrm>
            <a:off x="7790688" y="4178808"/>
            <a:ext cx="1828800" cy="34747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90688" y="41788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Data storytelling</a:t>
            </a:r>
            <a:endParaRPr lang="en-US" sz="1300" dirty="0"/>
          </a:p>
        </p:txBody>
      </p:sp>
      <p:sp>
        <p:nvSpPr>
          <p:cNvPr id="24" name="Chip A/B testing"/>
          <p:cNvSpPr/>
          <p:nvPr/>
        </p:nvSpPr>
        <p:spPr>
          <a:xfrm>
            <a:off x="9729216" y="4178808"/>
            <a:ext cx="1280160" cy="34747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729216" y="417880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A/B testing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492240" y="47091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INTERVIEW PLAN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492240" y="49834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3 SQL case questions → 2 statistics probes → 2 behavioural (STAR)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492240" y="54223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RESUME TIP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492240" y="569671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Quantify the dashboard project: who used it, and what changed?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FEATURE · IN-APP ASSISTANT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An AI coach that stays with you between interviews</a:t>
            </a:r>
            <a:endParaRPr lang="en-US" sz="3200" dirty="0"/>
          </a:p>
        </p:txBody>
      </p:sp>
      <p:sp>
        <p:nvSpPr>
          <p:cNvPr id="4" name="Assistant chat mock"/>
          <p:cNvSpPr/>
          <p:nvPr/>
        </p:nvSpPr>
        <p:spPr>
          <a:xfrm>
            <a:off x="548640" y="1783080"/>
            <a:ext cx="5486400" cy="4434840"/>
          </a:xfrm>
          <a:prstGeom prst="roundRect">
            <a:avLst>
              <a:gd name="adj" fmla="val 247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5" name="Fella assistant icon" descr="Fella, the PrepFella assist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47672"/>
            <a:ext cx="548640" cy="548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9659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Fella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22402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ASSISTANT · CONTEXT: LAST SESSION</a:t>
            </a:r>
            <a:endParaRPr lang="en-US" sz="1100" dirty="0"/>
          </a:p>
        </p:txBody>
      </p:sp>
      <p:sp>
        <p:nvSpPr>
          <p:cNvPr id="8" name="User message"/>
          <p:cNvSpPr/>
          <p:nvPr/>
        </p:nvSpPr>
        <p:spPr>
          <a:xfrm>
            <a:off x="2057400" y="2679192"/>
            <a:ext cx="3657600" cy="658368"/>
          </a:xfrm>
          <a:prstGeom prst="roundRect">
            <a:avLst>
              <a:gd name="adj" fmla="val 19444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057400" y="2679192"/>
            <a:ext cx="3657600" cy="658368"/>
          </a:xfrm>
          <a:prstGeom prst="rect">
            <a:avLst/>
          </a:prstGeom>
          <a:noFill/>
          <a:ln/>
        </p:spPr>
        <p:txBody>
          <a:bodyPr wrap="square" lIns="76200" tIns="127000" rIns="127000" bIns="762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Why did my answer on database indexing score low?</a:t>
            </a:r>
            <a:endParaRPr lang="en-US" sz="1400" dirty="0"/>
          </a:p>
        </p:txBody>
      </p:sp>
      <p:sp>
        <p:nvSpPr>
          <p:cNvPr id="10" name="Assistant message"/>
          <p:cNvSpPr/>
          <p:nvPr/>
        </p:nvSpPr>
        <p:spPr>
          <a:xfrm>
            <a:off x="868680" y="3474720"/>
            <a:ext cx="4480560" cy="1051560"/>
          </a:xfrm>
          <a:prstGeom prst="roundRect">
            <a:avLst>
              <a:gd name="adj" fmla="val 12174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8680" y="3474720"/>
            <a:ext cx="4480560" cy="1051560"/>
          </a:xfrm>
          <a:prstGeom prst="rect">
            <a:avLst/>
          </a:prstGeom>
          <a:noFill/>
          <a:ln/>
        </p:spPr>
        <p:txBody>
          <a:bodyPr wrap="square" lIns="76200" tIns="127000" rIns="127000" bIns="762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You defined an index but skipped the trade-off: writes get slower and storage grows. Try: definition → trade-off → an example from your own project.</a:t>
            </a:r>
            <a:endParaRPr lang="en-US" sz="1400" dirty="0"/>
          </a:p>
        </p:txBody>
      </p:sp>
      <p:sp>
        <p:nvSpPr>
          <p:cNvPr id="12" name="User message"/>
          <p:cNvSpPr/>
          <p:nvPr/>
        </p:nvSpPr>
        <p:spPr>
          <a:xfrm>
            <a:off x="3703320" y="4709160"/>
            <a:ext cx="2011680" cy="457200"/>
          </a:xfrm>
          <a:prstGeom prst="roundRect">
            <a:avLst>
              <a:gd name="adj" fmla="val 28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703320" y="4709160"/>
            <a:ext cx="2011680" cy="457200"/>
          </a:xfrm>
          <a:prstGeom prst="rect">
            <a:avLst/>
          </a:prstGeom>
          <a:noFill/>
          <a:ln/>
        </p:spPr>
        <p:txBody>
          <a:bodyPr wrap="square" lIns="76200" tIns="127000" rIns="127000" bIns="762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Quiz me on it.</a:t>
            </a:r>
            <a:endParaRPr lang="en-US" sz="1400" dirty="0"/>
          </a:p>
        </p:txBody>
      </p:sp>
      <p:sp>
        <p:nvSpPr>
          <p:cNvPr id="14" name="Assistant message"/>
          <p:cNvSpPr/>
          <p:nvPr/>
        </p:nvSpPr>
        <p:spPr>
          <a:xfrm>
            <a:off x="868680" y="5349240"/>
            <a:ext cx="4480560" cy="502920"/>
          </a:xfrm>
          <a:prstGeom prst="roundRect">
            <a:avLst>
              <a:gd name="adj" fmla="val 25455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68680" y="5349240"/>
            <a:ext cx="4480560" cy="502920"/>
          </a:xfrm>
          <a:prstGeom prst="rect">
            <a:avLst/>
          </a:prstGeom>
          <a:noFill/>
          <a:ln/>
        </p:spPr>
        <p:txBody>
          <a:bodyPr wrap="square" lIns="76200" tIns="127000" rIns="127000" bIns="762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Q1. When would you choose not to add an index?</a:t>
            </a:r>
            <a:endParaRPr lang="en-US" sz="1400" dirty="0"/>
          </a:p>
        </p:txBody>
      </p:sp>
      <p:sp>
        <p:nvSpPr>
          <p:cNvPr id="16" name="Explains low scores circle"/>
          <p:cNvSpPr/>
          <p:nvPr/>
        </p:nvSpPr>
        <p:spPr>
          <a:xfrm>
            <a:off x="6400800" y="17830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Explains low scores" descr="Explains low scor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559" y="1913839"/>
            <a:ext cx="241402" cy="241402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7132320" y="17830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Explains low scores</a:t>
            </a:r>
            <a:endParaRPr lang="en-US" sz="1700" dirty="0"/>
          </a:p>
        </p:txBody>
      </p:sp>
      <p:sp>
        <p:nvSpPr>
          <p:cNvPr id="19" name="Text 15"/>
          <p:cNvSpPr txBox="1"/>
          <p:nvPr/>
        </p:nvSpPr>
        <p:spPr>
          <a:xfrm>
            <a:off x="7132320" y="21488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Shows why an answer missed and what a stronger one sounds like.</a:t>
            </a:r>
            <a:endParaRPr lang="en-US" sz="1400" dirty="0"/>
          </a:p>
        </p:txBody>
      </p:sp>
      <p:sp>
        <p:nvSpPr>
          <p:cNvPr id="20" name="Drills weak topics circle"/>
          <p:cNvSpPr/>
          <p:nvPr/>
        </p:nvSpPr>
        <p:spPr>
          <a:xfrm>
            <a:off x="6400800" y="2788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Drills weak topics" descr="Drills weak topic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1559" y="2919679"/>
            <a:ext cx="241402" cy="24140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7132320" y="27889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Drills weak topics</a:t>
            </a:r>
            <a:endParaRPr lang="en-US" sz="1700" dirty="0"/>
          </a:p>
        </p:txBody>
      </p:sp>
      <p:sp>
        <p:nvSpPr>
          <p:cNvPr id="23" name="Text 18"/>
          <p:cNvSpPr txBox="1"/>
          <p:nvPr/>
        </p:nvSpPr>
        <p:spPr>
          <a:xfrm>
            <a:off x="7132320" y="31546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Builds quizzes from the gaps in the user’s last report.</a:t>
            </a:r>
            <a:endParaRPr lang="en-US" sz="1400" dirty="0"/>
          </a:p>
        </p:txBody>
      </p:sp>
      <p:sp>
        <p:nvSpPr>
          <p:cNvPr id="24" name="Sharpens the resume circle"/>
          <p:cNvSpPr/>
          <p:nvPr/>
        </p:nvSpPr>
        <p:spPr>
          <a:xfrm>
            <a:off x="6400800" y="37947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Sharpens the resume" descr="Sharpens the resum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1559" y="3925519"/>
            <a:ext cx="241402" cy="241402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132320" y="37947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Sharpens the resume</a:t>
            </a:r>
            <a:endParaRPr lang="en-US" sz="1700" dirty="0"/>
          </a:p>
        </p:txBody>
      </p:sp>
      <p:sp>
        <p:nvSpPr>
          <p:cNvPr id="27" name="Text 21"/>
          <p:cNvSpPr txBox="1"/>
          <p:nvPr/>
        </p:nvSpPr>
        <p:spPr>
          <a:xfrm>
            <a:off x="7132320" y="41605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Rewrites resume bullets to match a target job description.</a:t>
            </a:r>
            <a:endParaRPr lang="en-US" sz="1400" dirty="0"/>
          </a:p>
        </p:txBody>
      </p:sp>
      <p:sp>
        <p:nvSpPr>
          <p:cNvPr id="28" name="Guides the platform circle"/>
          <p:cNvSpPr/>
          <p:nvPr/>
        </p:nvSpPr>
        <p:spPr>
          <a:xfrm>
            <a:off x="6400800" y="48006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9" name="Guides the platform" descr="Guides the platform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1559" y="4931359"/>
            <a:ext cx="241402" cy="241402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7132320" y="48006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Guides the platform</a:t>
            </a:r>
            <a:endParaRPr lang="en-US" sz="1700" dirty="0"/>
          </a:p>
        </p:txBody>
      </p:sp>
      <p:sp>
        <p:nvSpPr>
          <p:cNvPr id="31" name="Text 24"/>
          <p:cNvSpPr txBox="1"/>
          <p:nvPr/>
        </p:nvSpPr>
        <p:spPr>
          <a:xfrm>
            <a:off x="7132320" y="516636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Answers ‘how do I…’ questions and suggests the next session.</a:t>
            </a:r>
            <a:endParaRPr lang="en-US" sz="1400" dirty="0"/>
          </a:p>
        </p:txBody>
      </p:sp>
      <p:sp>
        <p:nvSpPr>
          <p:cNvPr id="32" name="Text 25"/>
          <p:cNvSpPr txBox="1"/>
          <p:nvPr/>
        </p:nvSpPr>
        <p:spPr>
          <a:xfrm>
            <a:off x="6400800" y="5852160"/>
            <a:ext cx="5239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Grounded in the user’s own profile and session history through retrieval, so advice is specific, not generic.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IT WORKS · ADAPTIVE ENGINE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Questions that adapt to every answer</a:t>
            </a:r>
            <a:endParaRPr lang="en-US" sz="3200" dirty="0"/>
          </a:p>
        </p:txBody>
      </p:sp>
      <p:sp>
        <p:nvSpPr>
          <p:cNvPr id="4" name="Step Ask"/>
          <p:cNvSpPr/>
          <p:nvPr/>
        </p:nvSpPr>
        <p:spPr>
          <a:xfrm>
            <a:off x="548640" y="1783080"/>
            <a:ext cx="2465222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1C1433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9476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94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Ask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3288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Question tuned to role, level and resume</a:t>
            </a:r>
            <a:endParaRPr lang="en-US" sz="1400" dirty="0"/>
          </a:p>
        </p:txBody>
      </p:sp>
      <p:sp>
        <p:nvSpPr>
          <p:cNvPr id="8" name="Flow arrow 1"/>
          <p:cNvSpPr/>
          <p:nvPr/>
        </p:nvSpPr>
        <p:spPr>
          <a:xfrm>
            <a:off x="3082290" y="2331720"/>
            <a:ext cx="274320" cy="237744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Step Listen"/>
          <p:cNvSpPr/>
          <p:nvPr/>
        </p:nvSpPr>
        <p:spPr>
          <a:xfrm>
            <a:off x="3425038" y="1783080"/>
            <a:ext cx="2465222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1C1433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653638" y="19476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653638" y="2194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Listen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653638" y="253288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Transcribe speech; note pace and pauses</a:t>
            </a:r>
            <a:endParaRPr lang="en-US" sz="1400" dirty="0"/>
          </a:p>
        </p:txBody>
      </p:sp>
      <p:sp>
        <p:nvSpPr>
          <p:cNvPr id="13" name="Flow arrow 2"/>
          <p:cNvSpPr/>
          <p:nvPr/>
        </p:nvSpPr>
        <p:spPr>
          <a:xfrm>
            <a:off x="5958688" y="2331720"/>
            <a:ext cx="274320" cy="237744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Step Score"/>
          <p:cNvSpPr/>
          <p:nvPr/>
        </p:nvSpPr>
        <p:spPr>
          <a:xfrm>
            <a:off x="6301435" y="1783080"/>
            <a:ext cx="2465222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1C1433">
                <a:alpha val="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530035" y="19476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530035" y="2194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Score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530035" y="253288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Grade on four dimensions, with evidence</a:t>
            </a:r>
            <a:endParaRPr lang="en-US" sz="1400" dirty="0"/>
          </a:p>
        </p:txBody>
      </p:sp>
      <p:sp>
        <p:nvSpPr>
          <p:cNvPr id="18" name="Flow arrow 3"/>
          <p:cNvSpPr/>
          <p:nvPr/>
        </p:nvSpPr>
        <p:spPr>
          <a:xfrm>
            <a:off x="8835085" y="2331720"/>
            <a:ext cx="274320" cy="237744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Step Decide"/>
          <p:cNvSpPr/>
          <p:nvPr/>
        </p:nvSpPr>
        <p:spPr>
          <a:xfrm>
            <a:off x="9177833" y="1783080"/>
            <a:ext cx="2465222" cy="132588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406433" y="19476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4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9406433" y="2194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Decide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406433" y="253288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Choose the next move using the rules below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32004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↺  The loop runs once per question, typically 8–12 questions per session.</a:t>
            </a:r>
            <a:endParaRPr lang="en-US" sz="1400" dirty="0"/>
          </a:p>
        </p:txBody>
      </p:sp>
      <p:graphicFrame>
        <p:nvGraphicFramePr>
          <p:cNvPr id="9" name="Decision rul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57600"/>
          <a:ext cx="1109441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931920"/>
                <a:gridCol w="423641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If the answer…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Next move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Example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Scores high (8–10)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Raise difficulty or move to a new topic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“Now design it for ten million users.”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Is partly right (5–7)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Follow up on the missing piece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“What happens to writes with that index?”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Is weak (0–4)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Give a hint, ask a simpler variant, log a gap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“Start with: what is an index for?”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Mentions a resume claim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Verify it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“You used Kafka — why not RabbitMQ?”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IT WORKS · EVALUATION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Four dimensions of feedback, each backed by evidence</a:t>
            </a:r>
            <a:endParaRPr lang="en-US" sz="3200" dirty="0"/>
          </a:p>
        </p:txBody>
      </p:sp>
      <p:sp>
        <p:nvSpPr>
          <p:cNvPr id="4" name="Dimension Communication"/>
          <p:cNvSpPr/>
          <p:nvPr/>
        </p:nvSpPr>
        <p:spPr>
          <a:xfrm>
            <a:off x="548640" y="1783080"/>
            <a:ext cx="2567635" cy="3566160"/>
          </a:xfrm>
          <a:prstGeom prst="roundRect">
            <a:avLst>
              <a:gd name="adj" fmla="val 4274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1C1433">
                <a:alpha val="8000"/>
              </a:srgbClr>
            </a:outerShdw>
          </a:effectLst>
        </p:spPr>
      </p:sp>
      <p:sp>
        <p:nvSpPr>
          <p:cNvPr id="5" name="Communication circle"/>
          <p:cNvSpPr/>
          <p:nvPr/>
        </p:nvSpPr>
        <p:spPr>
          <a:xfrm>
            <a:off x="822960" y="20574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Communication" descr="Commun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220004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7432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Communication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4107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WE MEASURE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666744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Clarity, STAR structure, filler words, pace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3891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464515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Transcript analysis plus speech timing</a:t>
            </a:r>
            <a:endParaRPr lang="en-US" sz="1400" dirty="0"/>
          </a:p>
        </p:txBody>
      </p:sp>
      <p:sp>
        <p:nvSpPr>
          <p:cNvPr id="12" name="Dimension Technical knowledge"/>
          <p:cNvSpPr/>
          <p:nvPr/>
        </p:nvSpPr>
        <p:spPr>
          <a:xfrm>
            <a:off x="3390595" y="1783080"/>
            <a:ext cx="2567635" cy="3566160"/>
          </a:xfrm>
          <a:prstGeom prst="roundRect">
            <a:avLst>
              <a:gd name="adj" fmla="val 4274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1C1433">
                <a:alpha val="8000"/>
              </a:srgbClr>
            </a:outerShdw>
          </a:effectLst>
        </p:spPr>
      </p:sp>
      <p:sp>
        <p:nvSpPr>
          <p:cNvPr id="13" name="Technical knowledge circle"/>
          <p:cNvSpPr/>
          <p:nvPr/>
        </p:nvSpPr>
        <p:spPr>
          <a:xfrm>
            <a:off x="3664915" y="20574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Technical knowledge" descr="Technical knowled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7562" y="2200046"/>
            <a:ext cx="263347" cy="263347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664915" y="27432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Technical knowledge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3664915" y="34107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WE MEASURE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3664915" y="3666744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Correctness, depth, right terminology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3664915" y="43891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3664915" y="464515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LLM grades against role-specific key points</a:t>
            </a:r>
            <a:endParaRPr lang="en-US" sz="1400" dirty="0"/>
          </a:p>
        </p:txBody>
      </p:sp>
      <p:sp>
        <p:nvSpPr>
          <p:cNvPr id="20" name="Dimension Problem-solving"/>
          <p:cNvSpPr/>
          <p:nvPr/>
        </p:nvSpPr>
        <p:spPr>
          <a:xfrm>
            <a:off x="6232550" y="1783080"/>
            <a:ext cx="2567635" cy="3566160"/>
          </a:xfrm>
          <a:prstGeom prst="roundRect">
            <a:avLst>
              <a:gd name="adj" fmla="val 4274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1C1433">
                <a:alpha val="8000"/>
              </a:srgbClr>
            </a:outerShdw>
          </a:effectLst>
        </p:spPr>
      </p:sp>
      <p:sp>
        <p:nvSpPr>
          <p:cNvPr id="21" name="Problem-solving circle"/>
          <p:cNvSpPr/>
          <p:nvPr/>
        </p:nvSpPr>
        <p:spPr>
          <a:xfrm>
            <a:off x="6506870" y="20574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Problem-solving" descr="Problem-solv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9517" y="2200046"/>
            <a:ext cx="263347" cy="263347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6506870" y="27432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Problem-solving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6506870" y="34107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WE MEASURE</a:t>
            </a:r>
            <a:endParaRPr lang="en-US" sz="1100" dirty="0"/>
          </a:p>
        </p:txBody>
      </p:sp>
      <p:sp>
        <p:nvSpPr>
          <p:cNvPr id="25" name="Text 20"/>
          <p:cNvSpPr txBox="1"/>
          <p:nvPr/>
        </p:nvSpPr>
        <p:spPr>
          <a:xfrm>
            <a:off x="6506870" y="3666744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Approach, trade-offs, edge cases</a:t>
            </a:r>
            <a:endParaRPr lang="en-US" sz="1400" dirty="0"/>
          </a:p>
        </p:txBody>
      </p:sp>
      <p:sp>
        <p:nvSpPr>
          <p:cNvPr id="26" name="Text 21"/>
          <p:cNvSpPr txBox="1"/>
          <p:nvPr/>
        </p:nvSpPr>
        <p:spPr>
          <a:xfrm>
            <a:off x="6506870" y="43891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</a:t>
            </a:r>
            <a:endParaRPr lang="en-US" sz="1100" dirty="0"/>
          </a:p>
        </p:txBody>
      </p:sp>
      <p:sp>
        <p:nvSpPr>
          <p:cNvPr id="27" name="Text 22"/>
          <p:cNvSpPr txBox="1"/>
          <p:nvPr/>
        </p:nvSpPr>
        <p:spPr>
          <a:xfrm>
            <a:off x="6506870" y="464515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Rubric scoring of the reasoning steps</a:t>
            </a:r>
            <a:endParaRPr lang="en-US" sz="1400" dirty="0"/>
          </a:p>
        </p:txBody>
      </p:sp>
      <p:sp>
        <p:nvSpPr>
          <p:cNvPr id="28" name="Dimension Answer quality"/>
          <p:cNvSpPr/>
          <p:nvPr/>
        </p:nvSpPr>
        <p:spPr>
          <a:xfrm>
            <a:off x="9074506" y="1783080"/>
            <a:ext cx="2567635" cy="3566160"/>
          </a:xfrm>
          <a:prstGeom prst="roundRect">
            <a:avLst>
              <a:gd name="adj" fmla="val 4274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1C1433">
                <a:alpha val="8000"/>
              </a:srgbClr>
            </a:outerShdw>
          </a:effectLst>
        </p:spPr>
      </p:sp>
      <p:sp>
        <p:nvSpPr>
          <p:cNvPr id="29" name="Answer quality circle"/>
          <p:cNvSpPr/>
          <p:nvPr/>
        </p:nvSpPr>
        <p:spPr>
          <a:xfrm>
            <a:off x="9348826" y="20574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Answer quality" descr="Answer qualit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1472" y="2200046"/>
            <a:ext cx="263347" cy="263347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9348826" y="27432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Answer quality</a:t>
            </a:r>
            <a:endParaRPr lang="en-US" sz="1800" dirty="0"/>
          </a:p>
        </p:txBody>
      </p:sp>
      <p:sp>
        <p:nvSpPr>
          <p:cNvPr id="32" name="Text 26"/>
          <p:cNvSpPr txBox="1"/>
          <p:nvPr/>
        </p:nvSpPr>
        <p:spPr>
          <a:xfrm>
            <a:off x="9348826" y="34107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WE MEASURE</a:t>
            </a:r>
            <a:endParaRPr lang="en-US" sz="1100" dirty="0"/>
          </a:p>
        </p:txBody>
      </p:sp>
      <p:sp>
        <p:nvSpPr>
          <p:cNvPr id="33" name="Text 27"/>
          <p:cNvSpPr txBox="1"/>
          <p:nvPr/>
        </p:nvSpPr>
        <p:spPr>
          <a:xfrm>
            <a:off x="9348826" y="3666744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Relevance, completeness, conciseness</a:t>
            </a:r>
            <a:endParaRPr lang="en-US" sz="1400" dirty="0"/>
          </a:p>
        </p:txBody>
      </p:sp>
      <p:sp>
        <p:nvSpPr>
          <p:cNvPr id="34" name="Text 28"/>
          <p:cNvSpPr txBox="1"/>
          <p:nvPr/>
        </p:nvSpPr>
        <p:spPr>
          <a:xfrm>
            <a:off x="9348826" y="43891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</a:t>
            </a:r>
            <a:endParaRPr lang="en-US" sz="1100" dirty="0"/>
          </a:p>
        </p:txBody>
      </p:sp>
      <p:sp>
        <p:nvSpPr>
          <p:cNvPr id="35" name="Text 29"/>
          <p:cNvSpPr txBox="1"/>
          <p:nvPr/>
        </p:nvSpPr>
        <p:spPr>
          <a:xfrm>
            <a:off x="9348826" y="464515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LLM-as-judge with a fixed rubric per question</a:t>
            </a:r>
            <a:endParaRPr lang="en-US" sz="1400" dirty="0"/>
          </a:p>
        </p:txBody>
      </p:sp>
      <p:sp>
        <p:nvSpPr>
          <p:cNvPr id="36" name="Evidence circle"/>
          <p:cNvSpPr/>
          <p:nvPr/>
        </p:nvSpPr>
        <p:spPr>
          <a:xfrm>
            <a:off x="548640" y="5532120"/>
            <a:ext cx="411480" cy="4114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7" name="Evidence" descr="Evidenc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625" y="5639105"/>
            <a:ext cx="197510" cy="197510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1097280" y="55321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Explainable by design: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every score cites the part of the answer it came from, so feedback is never a black box.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 REPORT · ILLUSTRATIVE VALUES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report a candidate sees after every session</a:t>
            </a:r>
            <a:endParaRPr lang="en-US" sz="3200" dirty="0"/>
          </a:p>
        </p:txBody>
      </p:sp>
      <p:sp>
        <p:nvSpPr>
          <p:cNvPr id="4" name="Scores card"/>
          <p:cNvSpPr/>
          <p:nvPr/>
        </p:nvSpPr>
        <p:spPr>
          <a:xfrm>
            <a:off x="548640" y="1783080"/>
            <a:ext cx="5852160" cy="4434840"/>
          </a:xfrm>
          <a:prstGeom prst="roundRect">
            <a:avLst>
              <a:gd name="adj" fmla="val 2474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1C1433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Scores by dimension (out of 10)</a:t>
            </a:r>
            <a:endParaRPr lang="en-US" sz="1600" dirty="0"/>
          </a:p>
        </p:txBody>
      </p:sp>
      <p:graphicFrame>
        <p:nvGraphicFramePr>
          <p:cNvPr id="6" name="Scores chart" descr="Bar chart of sample scores: Communication 6.5, Technical knowledge 7.8, Problem-solving 7.0, Answer quality 6.0"/>
          <p:cNvGraphicFramePr/>
          <p:nvPr/>
        </p:nvGraphicFramePr>
        <p:xfrm>
          <a:off x="731520" y="2423160"/>
          <a:ext cx="54864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822960" y="534924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Weakest: answer quality. </a:t>
            </a:r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Answers ran long and missed the core of the question.</a:t>
            </a:r>
            <a:endParaRPr lang="en-US" sz="1400" dirty="0"/>
          </a:p>
        </p:txBody>
      </p:sp>
      <p:sp>
        <p:nvSpPr>
          <p:cNvPr id="8" name="Fixes card"/>
          <p:cNvSpPr/>
          <p:nvPr/>
        </p:nvSpPr>
        <p:spPr>
          <a:xfrm>
            <a:off x="6675120" y="1783080"/>
            <a:ext cx="4967935" cy="4434840"/>
          </a:xfrm>
          <a:prstGeom prst="roundRect">
            <a:avLst>
              <a:gd name="adj" fmla="val 2474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1C1433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995160" y="20116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Top three fixes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995160" y="2514600"/>
            <a:ext cx="4343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accent5"/>
                </a:solidFill>
              </a:rPr>
              <a:t>Use STAR — project answers skipped the Result.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accent5"/>
                </a:solidFill>
              </a:rPr>
              <a:t>Name the trade-off before the solution.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accent5"/>
                </a:solidFill>
              </a:rPr>
              <a:t>Cut filler words: ‘basically’ came up 14 times.</a:t>
            </a:r>
            <a:endParaRPr lang="en-US" sz="1600" dirty="0"/>
          </a:p>
        </p:txBody>
      </p:sp>
      <p:sp>
        <p:nvSpPr>
          <p:cNvPr id="11" name="Next session"/>
          <p:cNvSpPr/>
          <p:nvPr/>
        </p:nvSpPr>
        <p:spPr>
          <a:xfrm>
            <a:off x="6995160" y="4114800"/>
            <a:ext cx="4327855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223760" y="43159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SESSION · AUTO-PLANNED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223760" y="4636008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Medium difficulty · 2 behavioural (STAR) + 3 database-indexing questions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Focus: structure and concise answers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IMPLEMENTATION · ARCHITECTURE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Four layers, one AI backbone</a:t>
            </a:r>
            <a:endParaRPr lang="en-US" sz="3200" dirty="0"/>
          </a:p>
        </p:txBody>
      </p:sp>
      <p:sp>
        <p:nvSpPr>
          <p:cNvPr id="4" name="Layer Client"/>
          <p:cNvSpPr/>
          <p:nvPr/>
        </p:nvSpPr>
        <p:spPr>
          <a:xfrm>
            <a:off x="548640" y="1783080"/>
            <a:ext cx="2465222" cy="3520440"/>
          </a:xfrm>
          <a:prstGeom prst="roundRect">
            <a:avLst>
              <a:gd name="adj" fmla="val 4451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1C1433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20116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860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Next.js web app</a:t>
            </a:r>
            <a:endParaRPr lang="en-US" sz="1600" dirty="0"/>
          </a:p>
        </p:txBody>
      </p:sp>
      <p:sp>
        <p:nvSpPr>
          <p:cNvPr id="7" name="Client item 1"/>
          <p:cNvSpPr/>
          <p:nvPr/>
        </p:nvSpPr>
        <p:spPr>
          <a:xfrm>
            <a:off x="731520" y="2971800"/>
            <a:ext cx="2099462" cy="438912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" y="2971800"/>
            <a:ext cx="191658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Interview room</a:t>
            </a:r>
            <a:endParaRPr lang="en-US" sz="1400" dirty="0"/>
          </a:p>
        </p:txBody>
      </p:sp>
      <p:sp>
        <p:nvSpPr>
          <p:cNvPr id="9" name="Client item 2"/>
          <p:cNvSpPr/>
          <p:nvPr/>
        </p:nvSpPr>
        <p:spPr>
          <a:xfrm>
            <a:off x="731520" y="3520440"/>
            <a:ext cx="2099462" cy="438912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1248" y="3520440"/>
            <a:ext cx="191658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Mic + live transcript</a:t>
            </a:r>
            <a:endParaRPr lang="en-US" sz="1400" dirty="0"/>
          </a:p>
        </p:txBody>
      </p:sp>
      <p:sp>
        <p:nvSpPr>
          <p:cNvPr id="11" name="Client item 3"/>
          <p:cNvSpPr/>
          <p:nvPr/>
        </p:nvSpPr>
        <p:spPr>
          <a:xfrm>
            <a:off x="731520" y="4069080"/>
            <a:ext cx="2099462" cy="438912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1248" y="4069080"/>
            <a:ext cx="191658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Reports dashboard</a:t>
            </a:r>
            <a:endParaRPr lang="en-US" sz="1400" dirty="0"/>
          </a:p>
        </p:txBody>
      </p:sp>
      <p:sp>
        <p:nvSpPr>
          <p:cNvPr id="13" name="Client item 4"/>
          <p:cNvSpPr/>
          <p:nvPr/>
        </p:nvSpPr>
        <p:spPr>
          <a:xfrm>
            <a:off x="731520" y="4617720"/>
            <a:ext cx="2099462" cy="438912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1248" y="4617720"/>
            <a:ext cx="191658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Assistant chat</a:t>
            </a:r>
            <a:endParaRPr lang="en-US" sz="1400" dirty="0"/>
          </a:p>
        </p:txBody>
      </p:sp>
      <p:sp>
        <p:nvSpPr>
          <p:cNvPr id="15" name="Layer arrow 1"/>
          <p:cNvSpPr/>
          <p:nvPr/>
        </p:nvSpPr>
        <p:spPr>
          <a:xfrm>
            <a:off x="3082290" y="3429000"/>
            <a:ext cx="274320" cy="237744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Layer Backend"/>
          <p:cNvSpPr/>
          <p:nvPr/>
        </p:nvSpPr>
        <p:spPr>
          <a:xfrm>
            <a:off x="3425038" y="1783080"/>
            <a:ext cx="2465222" cy="3520440"/>
          </a:xfrm>
          <a:prstGeom prst="roundRect">
            <a:avLst>
              <a:gd name="adj" fmla="val 4451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1C1433">
                <a:alpha val="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3653638" y="20116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653638" y="22860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FastAPI services</a:t>
            </a:r>
            <a:endParaRPr lang="en-US" sz="1600" dirty="0"/>
          </a:p>
        </p:txBody>
      </p:sp>
      <p:sp>
        <p:nvSpPr>
          <p:cNvPr id="19" name="Backend item 1"/>
          <p:cNvSpPr/>
          <p:nvPr/>
        </p:nvSpPr>
        <p:spPr>
          <a:xfrm>
            <a:off x="3607918" y="2971800"/>
            <a:ext cx="2099462" cy="438912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717646" y="2971800"/>
            <a:ext cx="191658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Demo accounts, profiles</a:t>
            </a:r>
            <a:endParaRPr lang="en-US" sz="1400" dirty="0"/>
          </a:p>
        </p:txBody>
      </p:sp>
      <p:sp>
        <p:nvSpPr>
          <p:cNvPr id="21" name="Backend item 2"/>
          <p:cNvSpPr/>
          <p:nvPr/>
        </p:nvSpPr>
        <p:spPr>
          <a:xfrm>
            <a:off x="3607918" y="3520440"/>
            <a:ext cx="2099462" cy="438912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717646" y="3520440"/>
            <a:ext cx="191658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Session orchestrator</a:t>
            </a:r>
            <a:endParaRPr lang="en-US" sz="1400" dirty="0"/>
          </a:p>
        </p:txBody>
      </p:sp>
      <p:sp>
        <p:nvSpPr>
          <p:cNvPr id="23" name="Backend item 3"/>
          <p:cNvSpPr/>
          <p:nvPr/>
        </p:nvSpPr>
        <p:spPr>
          <a:xfrm>
            <a:off x="3607918" y="4069080"/>
            <a:ext cx="2099462" cy="438912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717646" y="4069080"/>
            <a:ext cx="191658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Adaptive engine</a:t>
            </a:r>
            <a:endParaRPr lang="en-US" sz="1400" dirty="0"/>
          </a:p>
        </p:txBody>
      </p:sp>
      <p:sp>
        <p:nvSpPr>
          <p:cNvPr id="25" name="Backend item 4"/>
          <p:cNvSpPr/>
          <p:nvPr/>
        </p:nvSpPr>
        <p:spPr>
          <a:xfrm>
            <a:off x="3607918" y="4617720"/>
            <a:ext cx="2099462" cy="438912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717646" y="4617720"/>
            <a:ext cx="191658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Scoring service</a:t>
            </a:r>
            <a:endParaRPr lang="en-US" sz="1400" dirty="0"/>
          </a:p>
        </p:txBody>
      </p:sp>
      <p:sp>
        <p:nvSpPr>
          <p:cNvPr id="27" name="Layer arrow 2"/>
          <p:cNvSpPr/>
          <p:nvPr/>
        </p:nvSpPr>
        <p:spPr>
          <a:xfrm>
            <a:off x="5958688" y="3429000"/>
            <a:ext cx="274320" cy="237744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Layer AI layer"/>
          <p:cNvSpPr/>
          <p:nvPr/>
        </p:nvSpPr>
        <p:spPr>
          <a:xfrm>
            <a:off x="6301435" y="1783080"/>
            <a:ext cx="2465222" cy="3520440"/>
          </a:xfrm>
          <a:prstGeom prst="roundRect">
            <a:avLst>
              <a:gd name="adj" fmla="val 445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530035" y="20116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LAYER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530035" y="22860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LLM + speech</a:t>
            </a:r>
            <a:endParaRPr lang="en-US" sz="1600" dirty="0"/>
          </a:p>
        </p:txBody>
      </p:sp>
      <p:sp>
        <p:nvSpPr>
          <p:cNvPr id="31" name="AI layer item 1"/>
          <p:cNvSpPr/>
          <p:nvPr/>
        </p:nvSpPr>
        <p:spPr>
          <a:xfrm>
            <a:off x="6484315" y="2971800"/>
            <a:ext cx="2099462" cy="438912"/>
          </a:xfrm>
          <a:prstGeom prst="roundRect">
            <a:avLst>
              <a:gd name="adj" fmla="val 16667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594043" y="2971800"/>
            <a:ext cx="191658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Hosted LLM (API)</a:t>
            </a:r>
            <a:endParaRPr lang="en-US" sz="1400" dirty="0"/>
          </a:p>
        </p:txBody>
      </p:sp>
      <p:sp>
        <p:nvSpPr>
          <p:cNvPr id="33" name="AI layer item 2"/>
          <p:cNvSpPr/>
          <p:nvPr/>
        </p:nvSpPr>
        <p:spPr>
          <a:xfrm>
            <a:off x="6484315" y="3520440"/>
            <a:ext cx="2099462" cy="438912"/>
          </a:xfrm>
          <a:prstGeom prst="roundRect">
            <a:avLst>
              <a:gd name="adj" fmla="val 16667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594043" y="3520440"/>
            <a:ext cx="191658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Speech-to-text</a:t>
            </a:r>
            <a:endParaRPr lang="en-US" sz="1400" dirty="0"/>
          </a:p>
        </p:txBody>
      </p:sp>
      <p:sp>
        <p:nvSpPr>
          <p:cNvPr id="35" name="AI layer item 3"/>
          <p:cNvSpPr/>
          <p:nvPr/>
        </p:nvSpPr>
        <p:spPr>
          <a:xfrm>
            <a:off x="6484315" y="4069080"/>
            <a:ext cx="2099462" cy="438912"/>
          </a:xfrm>
          <a:prstGeom prst="roundRect">
            <a:avLst>
              <a:gd name="adj" fmla="val 16667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594043" y="4069080"/>
            <a:ext cx="191658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Text-to-speech</a:t>
            </a:r>
            <a:endParaRPr lang="en-US" sz="1400" dirty="0"/>
          </a:p>
        </p:txBody>
      </p:sp>
      <p:sp>
        <p:nvSpPr>
          <p:cNvPr id="37" name="AI layer item 4"/>
          <p:cNvSpPr/>
          <p:nvPr/>
        </p:nvSpPr>
        <p:spPr>
          <a:xfrm>
            <a:off x="6484315" y="4617720"/>
            <a:ext cx="2099462" cy="438912"/>
          </a:xfrm>
          <a:prstGeom prst="roundRect">
            <a:avLst>
              <a:gd name="adj" fmla="val 16667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594043" y="4617720"/>
            <a:ext cx="191658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Resume parsing</a:t>
            </a:r>
            <a:endParaRPr lang="en-US" sz="1400" dirty="0"/>
          </a:p>
        </p:txBody>
      </p:sp>
      <p:sp>
        <p:nvSpPr>
          <p:cNvPr id="39" name="Layer arrow 3"/>
          <p:cNvSpPr/>
          <p:nvPr/>
        </p:nvSpPr>
        <p:spPr>
          <a:xfrm>
            <a:off x="8835085" y="3429000"/>
            <a:ext cx="274320" cy="237744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0" name="Layer Data"/>
          <p:cNvSpPr/>
          <p:nvPr/>
        </p:nvSpPr>
        <p:spPr>
          <a:xfrm>
            <a:off x="9177833" y="1783080"/>
            <a:ext cx="2465222" cy="3520440"/>
          </a:xfrm>
          <a:prstGeom prst="roundRect">
            <a:avLst>
              <a:gd name="adj" fmla="val 4451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1C1433">
                <a:alpha val="8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9406433" y="20116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9406433" y="22860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Storage</a:t>
            </a:r>
            <a:endParaRPr lang="en-US" sz="1600" dirty="0"/>
          </a:p>
        </p:txBody>
      </p:sp>
      <p:sp>
        <p:nvSpPr>
          <p:cNvPr id="43" name="Data item 1"/>
          <p:cNvSpPr/>
          <p:nvPr/>
        </p:nvSpPr>
        <p:spPr>
          <a:xfrm>
            <a:off x="9360713" y="2971800"/>
            <a:ext cx="2099462" cy="438912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470441" y="2971800"/>
            <a:ext cx="191658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SQLite (SQLAlchemy)</a:t>
            </a:r>
            <a:endParaRPr lang="en-US" sz="1400" dirty="0"/>
          </a:p>
        </p:txBody>
      </p:sp>
      <p:sp>
        <p:nvSpPr>
          <p:cNvPr id="45" name="Data item 2"/>
          <p:cNvSpPr/>
          <p:nvPr/>
        </p:nvSpPr>
        <p:spPr>
          <a:xfrm>
            <a:off x="9360713" y="3520440"/>
            <a:ext cx="2099462" cy="438912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470441" y="3520440"/>
            <a:ext cx="191658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Profiles + sessions</a:t>
            </a:r>
            <a:endParaRPr lang="en-US" sz="1400" dirty="0"/>
          </a:p>
        </p:txBody>
      </p:sp>
      <p:sp>
        <p:nvSpPr>
          <p:cNvPr id="47" name="Data item 3"/>
          <p:cNvSpPr/>
          <p:nvPr/>
        </p:nvSpPr>
        <p:spPr>
          <a:xfrm>
            <a:off x="9360713" y="4069080"/>
            <a:ext cx="2099462" cy="438912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470441" y="4069080"/>
            <a:ext cx="191658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Scores + reports</a:t>
            </a:r>
            <a:endParaRPr lang="en-US" sz="1400" dirty="0"/>
          </a:p>
        </p:txBody>
      </p:sp>
      <p:sp>
        <p:nvSpPr>
          <p:cNvPr id="49" name="Data item 4"/>
          <p:cNvSpPr/>
          <p:nvPr/>
        </p:nvSpPr>
        <p:spPr>
          <a:xfrm>
            <a:off x="9360713" y="4617720"/>
            <a:ext cx="2099462" cy="438912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9470441" y="4617720"/>
            <a:ext cx="191658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Cached question audio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548640" y="548640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One answer, end to end: </a:t>
            </a:r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the browser streams audio → speech-to-text → scoring service → the LLM grades it and picks the next question → text-to-speech asks it.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IMPLEMENTATION · TECH STACK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 stack a small team can ship during the hackathon</a:t>
            </a:r>
            <a:endParaRPr lang="en-US" sz="3200" dirty="0"/>
          </a:p>
        </p:txBody>
      </p:sp>
      <p:graphicFrame>
        <p:nvGraphicFramePr>
          <p:cNvPr id="13" name="Tech stack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749040"/>
                <a:gridCol w="524225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Layer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Choice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Frontend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Next.js, Tailwind CSS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Fast to build; one codebase for the interview room and dashboard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Interview audio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MediaRecorder + WebSocket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Streams answers for near-live transcription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Backend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FastAPI (Python)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Async, and the same language as the AI tooling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LLM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Hosted LLM, OpenAI-compatible API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One model for all four AI jobs; easy to swap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Speech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Whisper or NVIDIA Riva ASR; browser TTS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Accurate transcripts; TTS costs nothing on the client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Resume parsing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PyMuPDF + LLM extraction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Turns any resume layout into structured skills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Data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SQLite via SQLAlchemy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Zero setup for the demo; moves to PostgreSQL by changing one URL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Hosting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Vercel (web), Docker on Render (API)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Free tiers cover the demo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IMPLEMENTATION · BUILD PLAN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Hackathon build plan in three phases</a:t>
            </a:r>
            <a:endParaRPr lang="en-US" sz="3200" dirty="0"/>
          </a:p>
        </p:txBody>
      </p:sp>
      <p:sp>
        <p:nvSpPr>
          <p:cNvPr id="4" name="Phase 1"/>
          <p:cNvSpPr/>
          <p:nvPr/>
        </p:nvSpPr>
        <p:spPr>
          <a:xfrm>
            <a:off x="548640" y="1783080"/>
            <a:ext cx="3483864" cy="301752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1C1433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20391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Core loop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80360"/>
            <a:ext cx="2971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accent5"/>
                </a:solidFill>
              </a:rPr>
              <a:t>Demo accounts and profile setup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accent5"/>
                </a:solidFill>
              </a:rPr>
              <a:t>Role, level, type and difficulty picker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accent5"/>
                </a:solidFill>
              </a:rPr>
              <a:t>Text interview with AI-generated questions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accent5"/>
                </a:solidFill>
              </a:rPr>
              <a:t>Per-answer scoring and session report</a:t>
            </a:r>
            <a:endParaRPr lang="en-US" sz="1400" dirty="0"/>
          </a:p>
        </p:txBody>
      </p:sp>
      <p:sp>
        <p:nvSpPr>
          <p:cNvPr id="8" name="Phase 2"/>
          <p:cNvSpPr/>
          <p:nvPr/>
        </p:nvSpPr>
        <p:spPr>
          <a:xfrm>
            <a:off x="4352544" y="1783080"/>
            <a:ext cx="3483864" cy="301752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1C1433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626864" y="20391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626864" y="23317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Intelligence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626864" y="2880360"/>
            <a:ext cx="2971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accent5"/>
                </a:solidFill>
              </a:rPr>
              <a:t>Resume upload → AI Profile Review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accent5"/>
                </a:solidFill>
              </a:rPr>
              <a:t>Adaptive follow-up questions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accent5"/>
                </a:solidFill>
              </a:rPr>
              <a:t>Voice mode (speech-to-text + TTS)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accent5"/>
                </a:solidFill>
              </a:rPr>
              <a:t>In-app assistant with session context</a:t>
            </a:r>
            <a:endParaRPr lang="en-US" sz="1400" dirty="0"/>
          </a:p>
        </p:txBody>
      </p:sp>
      <p:sp>
        <p:nvSpPr>
          <p:cNvPr id="12" name="Phase 3"/>
          <p:cNvSpPr/>
          <p:nvPr/>
        </p:nvSpPr>
        <p:spPr>
          <a:xfrm>
            <a:off x="8156448" y="1783080"/>
            <a:ext cx="3483864" cy="301752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1C1433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430768" y="20391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430768" y="23317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Polish and demo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430768" y="2880360"/>
            <a:ext cx="2971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accent5"/>
                </a:solidFill>
              </a:rPr>
              <a:t>Progress dashboard across sessions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accent5"/>
                </a:solidFill>
              </a:rPr>
              <a:t>Study plan generated from gaps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accent5"/>
                </a:solidFill>
              </a:rPr>
              <a:t>Seeded demo account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accent5"/>
                </a:solidFill>
              </a:rPr>
              <a:t>Pitch and live-demo run-through</a:t>
            </a:r>
            <a:endParaRPr lang="en-US" sz="1400" dirty="0"/>
          </a:p>
        </p:txBody>
      </p:sp>
      <p:sp>
        <p:nvSpPr>
          <p:cNvPr id="16" name="Beyond the hackathon"/>
          <p:cNvSpPr/>
          <p:nvPr/>
        </p:nvSpPr>
        <p:spPr>
          <a:xfrm>
            <a:off x="548640" y="4983480"/>
            <a:ext cx="11094415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51846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BEYOND THE HACKATHON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54864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Video cues (eye contact, posture) · company-specific question packs · college and bootcamp dashboards · interviews in regional languages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IT’S DIFFERENT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How it compares with static practice sites</a:t>
            </a:r>
            <a:endParaRPr lang="en-US" sz="3200" dirty="0"/>
          </a:p>
        </p:txBody>
      </p:sp>
      <p:graphicFrame>
        <p:nvGraphicFramePr>
          <p:cNvPr id="15" name="Compariso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840480"/>
                <a:gridCol w="487649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Static practice sites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PrepFella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5"/>
                          </a:solidFill>
                        </a:rPr>
                        <a:t>Questions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Fixed question bank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Generated for role, level and resume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5"/>
                          </a:solidFill>
                        </a:rPr>
                        <a:t>Follow-ups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None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Adaptive — probes weak or vague answers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5"/>
                          </a:solidFill>
                        </a:rPr>
                        <a:t>Answer mode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Typing, or self-recorded video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Live two-way voice conversation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5"/>
                          </a:solidFill>
                        </a:rPr>
                        <a:t>Feedback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A model answer to compare against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Scored on four dimensions, with quoted evidence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5"/>
                          </a:solidFill>
                        </a:rPr>
                        <a:t>Profile insight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Not offered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AI Profile Review before the first question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5"/>
                          </a:solidFill>
                        </a:rPr>
                        <a:t>Between sessions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Not offered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AI assistant and a personalised study plan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5"/>
                          </a:solidFill>
                        </a:rPr>
                        <a:t>Progress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Count of sessions done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Score trends by skill across sessions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669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Our edge is the loop: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profile → adaptive interview → evidence-based feedback → targeted practice.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5486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1737360"/>
            <a:ext cx="110916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Practice that talks back</a:t>
            </a:r>
            <a:endParaRPr lang="en-US" sz="54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36576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PrepFella turns every mock interview into specific, evidence-backed coaching.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605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POWERED BY NVIDIA NEMOTRON  </a:t>
            </a:r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Profile Review · adaptive questions · answer evaluation · in-app assistant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572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WE’LL KNOW IT WORKS</a:t>
            </a:r>
            <a:endParaRPr lang="en-US" sz="1200" dirty="0"/>
          </a:p>
        </p:txBody>
      </p:sp>
      <p:sp>
        <p:nvSpPr>
          <p:cNvPr id="7" name="Scores rise across repeat sessions on the same dimension circle"/>
          <p:cNvSpPr/>
          <p:nvPr/>
        </p:nvSpPr>
        <p:spPr>
          <a:xfrm>
            <a:off x="548640" y="4937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Scores rise across repeat sessions on the same dimension" descr="Scores rise across repeat sessions on the same dimens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5056632"/>
            <a:ext cx="219456" cy="21945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88720" y="491947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Scores rise across repeat sessions on the same dimension</a:t>
            </a:r>
            <a:endParaRPr lang="en-US" sz="1500" dirty="0"/>
          </a:p>
        </p:txBody>
      </p:sp>
      <p:sp>
        <p:nvSpPr>
          <p:cNvPr id="10" name="Users finish sessions and come back for more circle"/>
          <p:cNvSpPr/>
          <p:nvPr/>
        </p:nvSpPr>
        <p:spPr>
          <a:xfrm>
            <a:off x="4352544" y="4937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Users finish sessions and come back for more" descr="Users finish sessions and come back for mo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416" y="505663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992624" y="491947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Users finish sessions and come back for more</a:t>
            </a:r>
            <a:endParaRPr lang="en-US" sz="1500" dirty="0"/>
          </a:p>
        </p:txBody>
      </p:sp>
      <p:sp>
        <p:nvSpPr>
          <p:cNvPr id="13" name="Users rate the feedback as specific and useful circle"/>
          <p:cNvSpPr/>
          <p:nvPr/>
        </p:nvSpPr>
        <p:spPr>
          <a:xfrm>
            <a:off x="8156448" y="4937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Users rate the feedback as specific and useful" descr="Users rate the feedback as specific and usefu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5056632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796528" y="491947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Users rate the feedback as specific and useful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Questions? · Jaron D · Rounak M · Manjunath 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terview Coach">
  <a:themeElements>
    <a:clrScheme name="Interview Coach">
      <a:dk1>
        <a:srgbClr val="231A3B"/>
      </a:dk1>
      <a:lt1>
        <a:srgbClr val="FFFFFF"/>
      </a:lt1>
      <a:dk2>
        <a:srgbClr val="1C1433"/>
      </a:dk2>
      <a:lt2>
        <a:srgbClr val="F5F1FC"/>
      </a:lt2>
      <a:accent1>
        <a:srgbClr val="8B5CF6"/>
      </a:accent1>
      <a:accent2>
        <a:srgbClr val="F472B6"/>
      </a:accent2>
      <a:accent3>
        <a:srgbClr val="6D3FC9"/>
      </a:accent3>
      <a:accent4>
        <a:srgbClr val="C9B8FF"/>
      </a:accent4>
      <a:accent5>
        <a:srgbClr val="5B5470"/>
      </a:accent5>
      <a:accent6>
        <a:srgbClr val="E4DCF5"/>
      </a:accent6>
      <a:hlink>
        <a:srgbClr val="6D3FC9"/>
      </a:hlink>
      <a:folHlink>
        <a:srgbClr val="B03C86"/>
      </a:folHlink>
    </a:clrScheme>
    <a:fontScheme name="Interview Coach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PrepFella — Idea &amp; Implementation</dc:title>
  <dc:subject>PptxGenJS Presentation</dc:subject>
  <dc:creator>Rounak M, Jaron D, Manjunath M</dc:creator>
  <cp:lastModifiedBy>Rounak M, Jaron D, Manjunath M</cp:lastModifiedBy>
  <cp:revision>1</cp:revision>
  <dcterms:created xsi:type="dcterms:W3CDTF">2026-10-23T04:58:06Z</dcterms:created>
  <dcterms:modified xsi:type="dcterms:W3CDTF">2026-10-23T04:58:06Z</dcterms:modified>
</cp:coreProperties>
</file>